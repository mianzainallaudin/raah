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lexandria" panose="020B0604020202020204" charset="-78"/>
      <p:regular r:id="rId15"/>
    </p:embeddedFont>
    <p:embeddedFont>
      <p:font typeface="Alexandria Bold" panose="020B0604020202020204" charset="-78"/>
      <p:regular r:id="rId16"/>
    </p:embeddedFont>
    <p:embeddedFont>
      <p:font typeface="Garet" panose="020B0604020202020204" charset="0"/>
      <p:regular r:id="rId17"/>
    </p:embeddedFont>
    <p:embeddedFont>
      <p:font typeface="Garet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71F5CF-4459-46A2-AE9C-3E648102D6AD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2C9D4E-6D84-4A6F-96EB-01611B153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00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C9D4E-6D84-4A6F-96EB-01611B15389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47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4.png"/><Relationship Id="rId4" Type="http://schemas.openxmlformats.org/officeDocument/2006/relationships/image" Target="../media/image10.sv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svg"/><Relationship Id="rId7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figma.com/design/jYBvWSY9HFK00adiUZmVa2/RAAH?node-id=0-1&amp;p=f&amp;t=1LuWrJRM5w6JWbbc-0" TargetMode="Externa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668325" y="3703311"/>
            <a:ext cx="12951349" cy="197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RAAH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62982" y="5582772"/>
            <a:ext cx="10162036" cy="772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Road Assessment And Hazards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74333">
            <a:off x="-598671" y="5538625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769920" y="2048975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TEAM MEMBERS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71621" y="4139719"/>
            <a:ext cx="1204169" cy="97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09"/>
              </a:lnSpc>
            </a:pPr>
            <a:r>
              <a:rPr lang="en-US" sz="5649">
                <a:solidFill>
                  <a:srgbClr val="3F3D3E"/>
                </a:solidFill>
                <a:latin typeface="Alexandria"/>
                <a:ea typeface="Alexandria"/>
                <a:cs typeface="Alexandria"/>
                <a:sym typeface="Alexandria"/>
              </a:rPr>
              <a:t>1.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71621" y="5466624"/>
            <a:ext cx="1204169" cy="97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09"/>
              </a:lnSpc>
            </a:pPr>
            <a:r>
              <a:rPr lang="en-US" sz="5649">
                <a:solidFill>
                  <a:srgbClr val="3F3D3E"/>
                </a:solidFill>
                <a:latin typeface="Alexandria"/>
                <a:ea typeface="Alexandria"/>
                <a:cs typeface="Alexandria"/>
                <a:sym typeface="Alexandria"/>
              </a:rPr>
              <a:t>2.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71621" y="6725584"/>
            <a:ext cx="1204169" cy="97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09"/>
              </a:lnSpc>
            </a:pPr>
            <a:r>
              <a:rPr lang="en-US" sz="5649">
                <a:solidFill>
                  <a:srgbClr val="3F3D3E"/>
                </a:solidFill>
                <a:latin typeface="Alexandria"/>
                <a:ea typeface="Alexandria"/>
                <a:cs typeface="Alexandria"/>
                <a:sym typeface="Alexandria"/>
              </a:rPr>
              <a:t>3.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27276" y="4217190"/>
            <a:ext cx="1140028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Eishah Iqbal 23L-2587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27276" y="5559529"/>
            <a:ext cx="1140028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M. Mustafa 23L-3026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27276" y="6813851"/>
            <a:ext cx="1140028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Zain Allaudin 23L-3036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541415" y="2115559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40879" y="3989467"/>
            <a:ext cx="13263393" cy="341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72"/>
              </a:lnSpc>
            </a:pPr>
            <a:r>
              <a:rPr lang="en-US" sz="326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RAAH is a mobile application designed to help citizens easily report road hazards such as potholes, broken signals, garbage, clogged drains, and damaged streetlights.</a:t>
            </a:r>
          </a:p>
          <a:p>
            <a:pPr algn="just">
              <a:lnSpc>
                <a:spcPts val="4572"/>
              </a:lnSpc>
              <a:spcBef>
                <a:spcPct val="0"/>
              </a:spcBef>
            </a:pPr>
            <a:r>
              <a:rPr lang="en-US" sz="326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The app bridges the communication gap between the public and municipal authorities by providing real-time reporting, tracking, and data-driven decision-making.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89146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461667" y="3464404"/>
            <a:ext cx="14116315" cy="579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Pakistan’s roads face chronic hazards—potholes, broken signals, clogged drains, garbage, and damaged streetlights.</a:t>
            </a:r>
          </a:p>
          <a:p>
            <a:pPr algn="just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These issues remain unresolved due to:</a:t>
            </a:r>
          </a:p>
          <a:p>
            <a:pPr marL="705747" lvl="1" indent="-352873" algn="just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No centralized reporting system</a:t>
            </a:r>
          </a:p>
          <a:p>
            <a:pPr marL="705747" lvl="1" indent="-352873" algn="just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Slow, manual complaint processes</a:t>
            </a:r>
          </a:p>
          <a:p>
            <a:pPr marL="705747" lvl="1" indent="-352873" algn="just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Poorly designed existing apps</a:t>
            </a:r>
          </a:p>
          <a:p>
            <a:pPr marL="705747" lvl="1" indent="-352873" algn="just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No real-time visibility for authorities</a:t>
            </a:r>
          </a:p>
          <a:p>
            <a:pPr algn="just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This gap causes accidents, delays, infrastructure damage, and public frustration.</a:t>
            </a:r>
          </a:p>
          <a:p>
            <a:pPr algn="just">
              <a:lnSpc>
                <a:spcPts val="4576"/>
              </a:lnSpc>
              <a:spcBef>
                <a:spcPct val="0"/>
              </a:spcBef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727039" y="1871208"/>
            <a:ext cx="12308628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PROBLEM STATEMENT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89146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4550940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6223781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452142" y="3464404"/>
            <a:ext cx="14116315" cy="5270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RAAH aims to create a smart, accessible, and trustworthy platform where:</a:t>
            </a:r>
          </a:p>
          <a:p>
            <a:pPr marL="705747" lvl="1" indent="-352873" algn="just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Citizens can report hazards effortlessly</a:t>
            </a:r>
          </a:p>
          <a:p>
            <a:pPr marL="705747" lvl="1" indent="-352873" algn="just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Authorities receive organized, verified, GPS-based data</a:t>
            </a:r>
          </a:p>
          <a:p>
            <a:pPr marL="705747" lvl="1" indent="-352873" algn="just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Repairs become faster and transparent</a:t>
            </a:r>
          </a:p>
          <a:p>
            <a:pPr marL="705747" lvl="1" indent="-352873" algn="just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Communities benefit from cleaner and safer cities</a:t>
            </a:r>
          </a:p>
          <a:p>
            <a:pPr algn="just">
              <a:lnSpc>
                <a:spcPts val="4805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The vision is to build a connected smart-city ecosystem where every citizen contributes to improving their environment.</a:t>
            </a:r>
          </a:p>
          <a:p>
            <a:pPr algn="just">
              <a:lnSpc>
                <a:spcPts val="4576"/>
              </a:lnSpc>
              <a:spcBef>
                <a:spcPct val="0"/>
              </a:spcBef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717514" y="1871208"/>
            <a:ext cx="12308628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VISION STATEMENT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541415" y="2173272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PERSONAS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29629" y="4251944"/>
            <a:ext cx="13828741" cy="3523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6236" lvl="1" indent="-363118" algn="just">
              <a:lnSpc>
                <a:spcPts val="4709"/>
              </a:lnSpc>
              <a:buFont typeface="Arial"/>
              <a:buChar char="•"/>
            </a:pPr>
            <a:r>
              <a:rPr lang="en-US" sz="336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Primary Persona – Ali Hassan (Daily Commuter)</a:t>
            </a:r>
          </a:p>
          <a:p>
            <a:pPr marL="726236" lvl="1" indent="-363118" algn="just">
              <a:lnSpc>
                <a:spcPts val="4709"/>
              </a:lnSpc>
              <a:buFont typeface="Arial"/>
              <a:buChar char="•"/>
            </a:pPr>
            <a:r>
              <a:rPr lang="en-US" sz="336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Secondary Persona – Kamran Ansari (Civil Engineer) </a:t>
            </a:r>
          </a:p>
          <a:p>
            <a:pPr marL="726236" lvl="1" indent="-363118" algn="just">
              <a:lnSpc>
                <a:spcPts val="4709"/>
              </a:lnSpc>
              <a:buFont typeface="Arial"/>
              <a:buChar char="•"/>
            </a:pPr>
            <a:r>
              <a:rPr lang="en-US" sz="336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Supplementary Persona – Haider Malik (Delivery Rider)</a:t>
            </a:r>
          </a:p>
          <a:p>
            <a:pPr marL="726236" lvl="1" indent="-363118" algn="just">
              <a:lnSpc>
                <a:spcPts val="4709"/>
              </a:lnSpc>
              <a:buFont typeface="Arial"/>
              <a:buChar char="•"/>
            </a:pPr>
            <a:r>
              <a:rPr lang="en-US" sz="336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Customer Persona – Ahmad Raza (Senior Municipal Officer)</a:t>
            </a:r>
          </a:p>
          <a:p>
            <a:pPr marL="726236" lvl="1" indent="-363118" algn="just">
              <a:lnSpc>
                <a:spcPts val="4709"/>
              </a:lnSpc>
              <a:buFont typeface="Arial"/>
              <a:buChar char="•"/>
            </a:pPr>
            <a:r>
              <a:rPr lang="en-US" sz="336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Served Persona – Sara Khan (Marketing Executive) </a:t>
            </a:r>
          </a:p>
          <a:p>
            <a:pPr marL="726236" lvl="1" indent="-363118" algn="just">
              <a:lnSpc>
                <a:spcPts val="4709"/>
              </a:lnSpc>
              <a:buFont typeface="Arial"/>
              <a:buChar char="•"/>
            </a:pPr>
            <a:r>
              <a:rPr lang="en-US" sz="336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Negative Persona – Bilal Siddiqui (Student) 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74333">
            <a:off x="-1029392" y="5244864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3905628" y="9827795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96882" y="2863774"/>
            <a:ext cx="2784474" cy="6331893"/>
          </a:xfrm>
          <a:custGeom>
            <a:avLst/>
            <a:gdLst/>
            <a:ahLst/>
            <a:cxnLst/>
            <a:rect l="l" t="t" r="r" b="b"/>
            <a:pathLst>
              <a:path w="2784474" h="6331893">
                <a:moveTo>
                  <a:pt x="0" y="0"/>
                </a:moveTo>
                <a:lnTo>
                  <a:pt x="2784473" y="0"/>
                </a:lnTo>
                <a:lnTo>
                  <a:pt x="2784473" y="6331892"/>
                </a:lnTo>
                <a:lnTo>
                  <a:pt x="0" y="63318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503" r="-57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5530569" y="2863774"/>
            <a:ext cx="2784186" cy="6331893"/>
          </a:xfrm>
          <a:custGeom>
            <a:avLst/>
            <a:gdLst/>
            <a:ahLst/>
            <a:cxnLst/>
            <a:rect l="l" t="t" r="r" b="b"/>
            <a:pathLst>
              <a:path w="2784186" h="6331893">
                <a:moveTo>
                  <a:pt x="0" y="0"/>
                </a:moveTo>
                <a:lnTo>
                  <a:pt x="2784186" y="0"/>
                </a:lnTo>
                <a:lnTo>
                  <a:pt x="2784186" y="6331892"/>
                </a:lnTo>
                <a:lnTo>
                  <a:pt x="0" y="63318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588" t="-3503" r="-31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667305" y="2839838"/>
            <a:ext cx="2885674" cy="6331893"/>
          </a:xfrm>
          <a:custGeom>
            <a:avLst/>
            <a:gdLst/>
            <a:ahLst/>
            <a:cxnLst/>
            <a:rect l="l" t="t" r="r" b="b"/>
            <a:pathLst>
              <a:path w="2885674" h="6331893">
                <a:moveTo>
                  <a:pt x="0" y="0"/>
                </a:moveTo>
                <a:lnTo>
                  <a:pt x="2885674" y="0"/>
                </a:lnTo>
                <a:lnTo>
                  <a:pt x="2885674" y="6331893"/>
                </a:lnTo>
                <a:lnTo>
                  <a:pt x="0" y="63318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3503" r="-203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905510" y="2839838"/>
            <a:ext cx="2944533" cy="6331893"/>
          </a:xfrm>
          <a:custGeom>
            <a:avLst/>
            <a:gdLst/>
            <a:ahLst/>
            <a:cxnLst/>
            <a:rect l="l" t="t" r="r" b="b"/>
            <a:pathLst>
              <a:path w="2944533" h="6331893">
                <a:moveTo>
                  <a:pt x="0" y="0"/>
                </a:moveTo>
                <a:lnTo>
                  <a:pt x="2944533" y="0"/>
                </a:lnTo>
                <a:lnTo>
                  <a:pt x="2944533" y="6331893"/>
                </a:lnTo>
                <a:lnTo>
                  <a:pt x="0" y="63318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35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905628" y="492761"/>
            <a:ext cx="12308628" cy="1375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08"/>
              </a:lnSpc>
            </a:pPr>
            <a:r>
              <a:rPr lang="en-US" sz="80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KEY PATH SCENARIO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214256" y="9340048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10200" y="1792543"/>
            <a:ext cx="9753600" cy="67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9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CITIZEN REPORTING A  POTHOLE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381355" y="6029720"/>
            <a:ext cx="1149213" cy="0"/>
          </a:xfrm>
          <a:prstGeom prst="line">
            <a:avLst/>
          </a:prstGeom>
          <a:ln w="66675" cap="flat">
            <a:solidFill>
              <a:srgbClr val="545454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8314755" y="6082107"/>
            <a:ext cx="1366991" cy="0"/>
          </a:xfrm>
          <a:prstGeom prst="line">
            <a:avLst/>
          </a:prstGeom>
          <a:ln w="66675" cap="flat">
            <a:solidFill>
              <a:srgbClr val="545454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12538519" y="6134495"/>
            <a:ext cx="1366991" cy="0"/>
          </a:xfrm>
          <a:prstGeom prst="line">
            <a:avLst/>
          </a:prstGeom>
          <a:ln w="66675" cap="flat">
            <a:solidFill>
              <a:srgbClr val="545454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2E54BD1-D9C0-8001-6D71-05D1D8A8B323}"/>
              </a:ext>
            </a:extLst>
          </p:cNvPr>
          <p:cNvCxnSpPr/>
          <p:nvPr/>
        </p:nvCxnSpPr>
        <p:spPr>
          <a:xfrm>
            <a:off x="3200400" y="9486900"/>
            <a:ext cx="12192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16B9E70-8FF0-BFD0-A253-ECDFD4B615CF}"/>
              </a:ext>
            </a:extLst>
          </p:cNvPr>
          <p:cNvCxnSpPr/>
          <p:nvPr/>
        </p:nvCxnSpPr>
        <p:spPr>
          <a:xfrm flipV="1">
            <a:off x="15392400" y="9171731"/>
            <a:ext cx="0" cy="315169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C520E40-F570-5C03-933B-9C084501A5E6}"/>
              </a:ext>
            </a:extLst>
          </p:cNvPr>
          <p:cNvCxnSpPr/>
          <p:nvPr/>
        </p:nvCxnSpPr>
        <p:spPr>
          <a:xfrm flipV="1">
            <a:off x="3200400" y="9195667"/>
            <a:ext cx="0" cy="2912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74333">
            <a:off x="-1029392" y="5244864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3905628" y="9827795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4302528" y="5726008"/>
            <a:ext cx="1336405" cy="0"/>
          </a:xfrm>
          <a:prstGeom prst="line">
            <a:avLst/>
          </a:prstGeom>
          <a:ln w="66675" cap="flat">
            <a:solidFill>
              <a:srgbClr val="545454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301467" y="5759346"/>
            <a:ext cx="1366991" cy="0"/>
          </a:xfrm>
          <a:prstGeom prst="line">
            <a:avLst/>
          </a:prstGeom>
          <a:ln w="66675" cap="flat">
            <a:solidFill>
              <a:srgbClr val="545454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12557569" y="5776693"/>
            <a:ext cx="1366991" cy="0"/>
          </a:xfrm>
          <a:prstGeom prst="line">
            <a:avLst/>
          </a:prstGeom>
          <a:ln w="66675" cap="flat">
            <a:solidFill>
              <a:srgbClr val="545454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764766" y="2671560"/>
            <a:ext cx="2537762" cy="6108896"/>
          </a:xfrm>
          <a:custGeom>
            <a:avLst/>
            <a:gdLst/>
            <a:ahLst/>
            <a:cxnLst/>
            <a:rect l="l" t="t" r="r" b="b"/>
            <a:pathLst>
              <a:path w="2537762" h="6108896">
                <a:moveTo>
                  <a:pt x="0" y="0"/>
                </a:moveTo>
                <a:lnTo>
                  <a:pt x="2537762" y="0"/>
                </a:lnTo>
                <a:lnTo>
                  <a:pt x="2537762" y="6108896"/>
                </a:lnTo>
                <a:lnTo>
                  <a:pt x="0" y="61088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017" r="-40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5638933" y="2671560"/>
            <a:ext cx="2569012" cy="6108896"/>
          </a:xfrm>
          <a:custGeom>
            <a:avLst/>
            <a:gdLst/>
            <a:ahLst/>
            <a:cxnLst/>
            <a:rect l="l" t="t" r="r" b="b"/>
            <a:pathLst>
              <a:path w="2569012" h="6108896">
                <a:moveTo>
                  <a:pt x="0" y="0"/>
                </a:moveTo>
                <a:lnTo>
                  <a:pt x="2569012" y="0"/>
                </a:lnTo>
                <a:lnTo>
                  <a:pt x="2569012" y="6108896"/>
                </a:lnTo>
                <a:lnTo>
                  <a:pt x="0" y="61088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926" r="-392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9668459" y="2637619"/>
            <a:ext cx="2944533" cy="6108896"/>
          </a:xfrm>
          <a:custGeom>
            <a:avLst/>
            <a:gdLst/>
            <a:ahLst/>
            <a:cxnLst/>
            <a:rect l="l" t="t" r="r" b="b"/>
            <a:pathLst>
              <a:path w="2944533" h="6278149">
                <a:moveTo>
                  <a:pt x="0" y="0"/>
                </a:moveTo>
                <a:lnTo>
                  <a:pt x="2944533" y="0"/>
                </a:lnTo>
                <a:lnTo>
                  <a:pt x="2944533" y="6278149"/>
                </a:lnTo>
                <a:lnTo>
                  <a:pt x="0" y="62781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43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3924560" y="2671561"/>
            <a:ext cx="2537762" cy="6108896"/>
          </a:xfrm>
          <a:custGeom>
            <a:avLst/>
            <a:gdLst/>
            <a:ahLst/>
            <a:cxnLst/>
            <a:rect l="l" t="t" r="r" b="b"/>
            <a:pathLst>
              <a:path w="2537762" h="6244207">
                <a:moveTo>
                  <a:pt x="0" y="0"/>
                </a:moveTo>
                <a:lnTo>
                  <a:pt x="2537762" y="0"/>
                </a:lnTo>
                <a:lnTo>
                  <a:pt x="2537762" y="6244207"/>
                </a:lnTo>
                <a:lnTo>
                  <a:pt x="0" y="62442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214" r="-521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3905628" y="492761"/>
            <a:ext cx="12308628" cy="1375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08"/>
              </a:lnSpc>
            </a:pPr>
            <a:r>
              <a:rPr lang="en-US" sz="80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KEY PATH SCENARIO 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214256" y="9340048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91201" y="1792543"/>
            <a:ext cx="7405246" cy="67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9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MUNICIPAL  MONITORING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46876D-BDFA-21F3-AEF3-7B968A205ECC}"/>
              </a:ext>
            </a:extLst>
          </p:cNvPr>
          <p:cNvCxnSpPr/>
          <p:nvPr/>
        </p:nvCxnSpPr>
        <p:spPr>
          <a:xfrm>
            <a:off x="3048000" y="9095730"/>
            <a:ext cx="12192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968032E-83DD-4CED-DB25-F6424C78330F}"/>
              </a:ext>
            </a:extLst>
          </p:cNvPr>
          <p:cNvCxnSpPr/>
          <p:nvPr/>
        </p:nvCxnSpPr>
        <p:spPr>
          <a:xfrm flipV="1">
            <a:off x="15240000" y="8780456"/>
            <a:ext cx="0" cy="315169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B92CA7E-58B3-B98A-E5D9-09484E93EEE9}"/>
              </a:ext>
            </a:extLst>
          </p:cNvPr>
          <p:cNvCxnSpPr/>
          <p:nvPr/>
        </p:nvCxnSpPr>
        <p:spPr>
          <a:xfrm flipV="1">
            <a:off x="3048000" y="8780456"/>
            <a:ext cx="0" cy="2912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541415" y="2567666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FIGMA DESIGN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4727498"/>
            <a:ext cx="18288000" cy="103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1"/>
              </a:lnSpc>
              <a:spcBef>
                <a:spcPct val="0"/>
              </a:spcBef>
            </a:pPr>
            <a:r>
              <a:rPr lang="en-US" sz="2943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Garet Bold"/>
                <a:ea typeface="Garet Bold"/>
                <a:cs typeface="Garet Bold"/>
                <a:sym typeface="Garet Bold"/>
                <a:hlinkClick r:id="rId6" tooltip="https://www.figma.com/design/jYBvWSY9HFK00adiUZmVa2/RAAH?node-id=0-1&amp;p=f&amp;t=1LuWrJRM5w6JWbbc-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https://www.figma.com/design/jYBvWSY9HFK00adiUZmVa2/RAAH?node-id=0-1&amp;p=f&amp;t=1LuWrJRM5w6JWbbc-0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391035" y="2035705"/>
            <a:ext cx="1350592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APPLIED HCI PRINCIPLES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21514" y="4097138"/>
            <a:ext cx="6767085" cy="3469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Goal-Directed Design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Minimize Work for the User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Provide Clear Feedback and Affordances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Fit to Platform and Posture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User Mental Model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699401" y="4097138"/>
            <a:ext cx="6747510" cy="3469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Prevent errors and support recovery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Consistency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Affordances &amp; Signifiers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Clear Visual Hierarchy &amp; Layout</a:t>
            </a:r>
          </a:p>
        </p:txBody>
      </p:sp>
      <p:sp>
        <p:nvSpPr>
          <p:cNvPr id="6" name="Freeform 6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769920" y="1799278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64129" y="3789246"/>
            <a:ext cx="13675896" cy="3469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RAAH bridges the gap between citizens and authorities with a modern, inclusive road hazard reporting system. By applying UX research, personas, and HCI principles, it enables faster, reliable reporting, real-time visibility for authorities, enhanced urban safety, and active community participation—showcasing effective Human-Centered Design in a real-world context.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668325" y="4041844"/>
            <a:ext cx="12951349" cy="197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403</Words>
  <Application>Microsoft Office PowerPoint</Application>
  <PresentationFormat>Custom</PresentationFormat>
  <Paragraphs>64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Calibri</vt:lpstr>
      <vt:lpstr>Arial</vt:lpstr>
      <vt:lpstr>Aptos</vt:lpstr>
      <vt:lpstr>Garet</vt:lpstr>
      <vt:lpstr>Alexandria Bold</vt:lpstr>
      <vt:lpstr>Garet Bold</vt:lpstr>
      <vt:lpstr>Alexandria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Minimalist Professional Project Presentation</dc:title>
  <cp:lastModifiedBy>EISHAH IQBAL</cp:lastModifiedBy>
  <cp:revision>4</cp:revision>
  <dcterms:created xsi:type="dcterms:W3CDTF">2006-08-16T00:00:00Z</dcterms:created>
  <dcterms:modified xsi:type="dcterms:W3CDTF">2025-11-29T13:31:59Z</dcterms:modified>
  <dc:identifier>DAG6EhXh5nk</dc:identifier>
</cp:coreProperties>
</file>